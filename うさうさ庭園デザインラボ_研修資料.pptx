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導入。3つの知（査読デザイン論・写真の構図・日本庭園の設計思想）を、庭の知恵で1本につなぐ研修。最後にAIツールの使い方まで。原則は“慣習/定石”で、査読論文の主張とは区別する点を最初に共有。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WHY。庭の知恵は引き算・視線設計・たとえの宝庫。査読デザイン論と構図の橋渡しに使える。ただし庭の原則＝文化的慣習であることを明言。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3つの知の俯瞰。査読論はDOIで担保、構図は定石、庭園は伝統知。次から庭の7知恵を、対応構図と響く論文に結びつけて解説する。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間（ま）・余白。庭→構図(リーディングライン)→査読論の順で1本に。実演:この知恵が効く庭/写真を1枚見せ、受講生に「主役をどこに置く？」と問う(テスト効果)と定着。論文は“響き合うアナロジー”で、庭園を実証したものではないと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均整。庭→構図(三分割法)→査読論の順で1本に。実演:この知恵が効く庭/写真を1枚見せ、受講生に「主役をどこに置く？」と問う(テスト効果)と定着。論文は“響き合うアナロジー”で、庭園を実証したものではないと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借景（しゃっけい）。庭→構図(額縁構図)→査読論の順で1本に。実演:この知恵が効く庭/写真を1枚見せ、受講生に「主役をどこに置く？」と問う(テスト効果)と定着。論文は“響き合うアナロジー”で、庭園を実証したものではないと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え隠れ。庭→構図(リーディングライン)→査読論の順で1本に。実演:この知恵が効く庭/写真を1枚見せ、受講生に「主役をどこに置く？」と問う(テスト効果)と定着。論文は“響き合うアナロジー”で、庭園を実証したものではないと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尊石（不等三角）。庭→構図(三角構図)→査読論の順で1本に。実演:この知恵が効く庭/写真を1枚見せ、受講生に「主役をどこに置く？」と問う(テスト効果)と定着。論文は“響き合うアナロジー”で、庭園を実証したものではないと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簡素・枯山水。庭→構図(日の丸構図)→査読論の順で1本に。実演:この知恵が効く庭/写真を1枚見せ、受講生に「主役をどこに置く？」と問う(テスト効果)と定着。論文は“響き合うアナロジー”で、庭園を実証したものではないと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侘び寂び・自然石。庭→構図(対角線構図)→査読論の順で1本に。実演:この知恵が効く庭/写真を1枚見せ、受講生に「主役をどこに置く？」と問う(テスト効果)と定着。論文は“響き合うアナロジー”で、庭園を実証したものではないと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3タブ＋庭園タブ。回答モードは用途で切替:即答出典=参照先、考えさせたい=問い、じっくり=相談。設計書レビューにも使える。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パラメータとプリセットで“効いた設定”を資産化。1ファイルで鍵あり/なしを自動切替。設計書レビューPoCで使い回せる。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締め。庭の知恵は腹落ちの入口、構図は実践、査読論は根拠。混同せず、響き合わせて学ぼう。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5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371600"/>
            <a:ext cx="3931920" cy="3931920"/>
          </a:xfrm>
          <a:prstGeom prst="ellipse">
            <a:avLst/>
          </a:prstGeom>
          <a:solidFill>
            <a:srgbClr val="5F7D4F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2743200" cy="2743200"/>
          </a:xfrm>
          <a:prstGeom prst="ellipse">
            <a:avLst/>
          </a:prstGeom>
          <a:solidFill>
            <a:srgbClr val="5F7D4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🐰🪴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EFE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うさうさ庭園デザインラボ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154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E4D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庭の知恵で、最新デザイン論と構図を束ねて学ぶ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B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うさうさ研修工房  ／  v1.3 統合版・2026-06-23  ／  「面白きこともなき世を面白く」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なぜ「庭の知恵」で束ねるのか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5F7D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64792"/>
            <a:ext cx="731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1828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引き算の達人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庭は“間・簡素・余白”で磨いてきた。これは認知負荷の引き算と地続き。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737360"/>
            <a:ext cx="731520" cy="731520"/>
          </a:xfrm>
          <a:prstGeom prst="ellipse">
            <a:avLst/>
          </a:prstGeom>
          <a:solidFill>
            <a:srgbClr val="5F7D4F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764792"/>
            <a:ext cx="731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0" y="1828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視線の設計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26974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借景・見え隠れ・不均整は、構図の誘導や三分割と同じ発想。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1737360"/>
            <a:ext cx="731520" cy="731520"/>
          </a:xfrm>
          <a:prstGeom prst="ellipse">
            <a:avLst/>
          </a:prstGeom>
          <a:solidFill>
            <a:srgbClr val="5F7D4F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764792"/>
            <a:ext cx="731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🌿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281160" y="1828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記憶に残る型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12480" y="26974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和の型は身近なたとえになり、デザイン論を“腹落ち”させる入口になる。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3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庭園・構図の原則は“慣習/定石（例外あり）”。査読論文の主張とは混同せず、響き合うアナロジーとして扱う。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3つの知の地図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63624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🌿 査読デザイン論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297680" y="1563624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実在DOI 15本。認知負荷・マルチメディア・UX/美・A11y・デザイン思考・学習心理・カラー心理。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98648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04495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📐 写真の構図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297680" y="3044952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9つの定石。三分割・黄金比・黄金螺旋・対角線・三角・日の丸・対称・額縁・リーディングライン。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4379976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4526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🪨 日本庭園の設計思想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297680" y="452628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7つの知恵。間・不均整・借景・見え隠れ・三尊石・簡素・侘び寂び。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3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この3つを「庭の知恵」を入口に1本でつなぐのが本ラボ。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5F7D4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間（ま）・余白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207008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3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 / Negative Space　／　対応する構図：リーディングライン</a:t>
            </a:r>
            <a:endParaRPr lang="en-US" sz="1300" dirty="0"/>
          </a:p>
        </p:txBody>
      </p:sp>
      <p:pic>
        <p:nvPicPr>
          <p:cNvPr id="6" name="Image 0" descr="/home/claude/dia_g/lea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背景はダミー。●=主役の置き場所の目安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856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D4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126480" y="2148840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何も置かない“余白”を、積極的なデザイン要素として効かせる考え方。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0" y="2807208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462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🍵 たとえ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26480" y="3172968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茶室のがらんとした空間。何もないからこそ、一輪の花が際立つ。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43600" y="3831336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3904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0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庭での例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126480" y="419709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砂庭の白砂や苔の広がり。石を引き立てるために“空ける”。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0" y="4855464"/>
            <a:ext cx="5715000" cy="566928"/>
          </a:xfrm>
          <a:prstGeom prst="roundRect">
            <a:avLst>
              <a:gd name="adj" fmla="val 14516"/>
            </a:avLst>
          </a:prstGeom>
          <a:solidFill>
            <a:srgbClr val="5F7D4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4873752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一言：  足すより、空ける。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43600" y="558698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60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響く論文（アナロジー）：Sweller et al. (2019) doi:10.1007/s10648-019-09465-5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5F7D4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不均整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207008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3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Asymmetry　／　対応する構図：三分割法</a:t>
            </a:r>
            <a:endParaRPr lang="en-US" sz="1300" dirty="0"/>
          </a:p>
        </p:txBody>
      </p:sp>
      <p:pic>
        <p:nvPicPr>
          <p:cNvPr id="6" name="Image 0" descr="/home/claude/dia_g/thi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背景はダミー。●=主役の置き場所の目安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856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D4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126480" y="2148840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中央のべったり対称を避け、不揃いな重みで動きとバランスを作る。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0" y="2807208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462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🍵 たとえ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26480" y="3172968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主石を中央から外し、添石を小さく離す。緊張と自然さが生まれる。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43600" y="3831336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3904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0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庭での例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126480" y="419709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三尊石も大中小で不等辺に。きっちり等間隔にしない。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0" y="4855464"/>
            <a:ext cx="5715000" cy="566928"/>
          </a:xfrm>
          <a:prstGeom prst="roundRect">
            <a:avLst>
              <a:gd name="adj" fmla="val 14516"/>
            </a:avLst>
          </a:prstGeom>
          <a:solidFill>
            <a:srgbClr val="5F7D4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4873752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一言：  真ん中を、外す。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43600" y="558698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60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響く論文（アナロジー）：Moshagen &amp; Thielsch (2010) doi:10.1016/j.ijhcs.2010.05.006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5F7D4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借景（しゃっけい）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207008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3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Shakkei　／　対応する構図：額縁構図</a:t>
            </a:r>
            <a:endParaRPr lang="en-US" sz="1300" dirty="0"/>
          </a:p>
        </p:txBody>
      </p:sp>
      <p:pic>
        <p:nvPicPr>
          <p:cNvPr id="6" name="Image 0" descr="/home/claude/dia_g/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背景はダミー。●=主役の置き場所の目安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856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D4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126480" y="2148840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庭の外の遠山や樹木を、庭の構図の一部として“借りて”取り込む。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0" y="2807208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462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🍵 たとえ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26480" y="3172968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生垣や軒で遠景を切り取り、庭と山を一枚の絵にする。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43600" y="3831336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3904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0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庭での例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126480" y="419709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窓・門・木立を“額縁”にして、遠くの景色を主役の背景に据える。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0" y="4855464"/>
            <a:ext cx="5715000" cy="566928"/>
          </a:xfrm>
          <a:prstGeom prst="roundRect">
            <a:avLst>
              <a:gd name="adj" fmla="val 14516"/>
            </a:avLst>
          </a:prstGeom>
          <a:solidFill>
            <a:srgbClr val="5F7D4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4873752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一言：  遠くを、借りる。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43600" y="558698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60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響く論文（アナロジー）：Moshagen &amp; Thielsch (2010) doi:10.1016/j.ijhcs.2010.05.006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5F7D4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見え隠れ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207008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3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Miegakure　／　対応する構図：リーディングライン</a:t>
            </a:r>
            <a:endParaRPr lang="en-US" sz="1300" dirty="0"/>
          </a:p>
        </p:txBody>
      </p:sp>
      <p:pic>
        <p:nvPicPr>
          <p:cNvPr id="6" name="Image 0" descr="/home/claude/dia_g/lea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背景はダミー。●=主役の置き場所の目安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856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D4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126480" y="2148840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全部を一度に見せず、曲がり道や植栽で“少しずつ”見せて歩を誘う。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0" y="2807208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462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🍵 たとえ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26480" y="3172968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露地の飛び石。先が隠れているから、次を見たくて進みたくなる。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43600" y="3831336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3904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0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庭での例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126480" y="419709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園路を曲げ、要石を植栽で半分隠す。期待が視線と足を動かす。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0" y="4855464"/>
            <a:ext cx="5715000" cy="566928"/>
          </a:xfrm>
          <a:prstGeom prst="roundRect">
            <a:avLst>
              <a:gd name="adj" fmla="val 14516"/>
            </a:avLst>
          </a:prstGeom>
          <a:solidFill>
            <a:srgbClr val="5F7D4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4873752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一言：  隠して、誘う。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43600" y="558698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60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響く論文（アナロジー）：Roediger &amp; Karpicke (2006) doi:10.1111/j.1467-9280.2006.01693.x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5F7D4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三尊石（不等三角）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207008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3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Triad / Sanzon　／　対応する構図：三角構図</a:t>
            </a:r>
            <a:endParaRPr lang="en-US" sz="1300" dirty="0"/>
          </a:p>
        </p:txBody>
      </p:sp>
      <p:pic>
        <p:nvPicPr>
          <p:cNvPr id="6" name="Image 0" descr="/home/claude/dia_g/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背景はダミー。●=主役の置き場所の目安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856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D4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126480" y="2148840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主・添・控の3石を大中小・不等辺の三角に組み、安定とまとまりを作る。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0" y="2807208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462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🍵 たとえ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26480" y="3172968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中央に主石、脇に低い添石、奥に控石。三点で“締まる”。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43600" y="3831336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3904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0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庭での例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126480" y="419709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植栽や景物も3点を基本に。点が散らず一群にまとまる。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0" y="4855464"/>
            <a:ext cx="5715000" cy="566928"/>
          </a:xfrm>
          <a:prstGeom prst="roundRect">
            <a:avLst>
              <a:gd name="adj" fmla="val 14516"/>
            </a:avLst>
          </a:prstGeom>
          <a:solidFill>
            <a:srgbClr val="5F7D4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4873752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一言：  三点で、締める。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43600" y="558698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60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響く論文（アナロジー）：Moshagen &amp; Thielsch (2010) doi:10.1016/j.ijhcs.2010.05.006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5F7D4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簡素・枯山水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207008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3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Simplicity / Karesansui　／　対応する構図：日の丸構図</a:t>
            </a:r>
            <a:endParaRPr lang="en-US" sz="1300" dirty="0"/>
          </a:p>
        </p:txBody>
      </p:sp>
      <p:pic>
        <p:nvPicPr>
          <p:cNvPr id="6" name="Image 0" descr="/home/claude/dia_g/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背景はダミー。●=主役の置き場所の目安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856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D4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126480" y="2148840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水を使わず砂と石で水景を“見立てる”。最小の要素で多くを語る。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0" y="2807208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462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🍵 たとえ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26480" y="3172968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白砂の波紋と数個の石だけで、大海と島を想像させる。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43600" y="3831336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3904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0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庭での例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126480" y="419709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要素を絞り、背景を徹底して整理。主役（石）を潔く立てる。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0" y="4855464"/>
            <a:ext cx="5715000" cy="566928"/>
          </a:xfrm>
          <a:prstGeom prst="roundRect">
            <a:avLst>
              <a:gd name="adj" fmla="val 14516"/>
            </a:avLst>
          </a:prstGeom>
          <a:solidFill>
            <a:srgbClr val="5F7D4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4873752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一言：  少なさで、語る。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43600" y="558698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60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響く論文（アナロジー）：Mayer &amp; Johnson (2008) doi:10.1037/0022-0663.100.2.380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5F7D4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侘び寂び・自然石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207008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3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Wabi-sabi　／　対応する構図：対角線構図</a:t>
            </a:r>
            <a:endParaRPr lang="en-US" sz="1300" dirty="0"/>
          </a:p>
        </p:txBody>
      </p:sp>
      <p:pic>
        <p:nvPicPr>
          <p:cNvPr id="6" name="Image 0" descr="/home/claude/dia_g/diag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背景はダミー。●=主役の置き場所の目安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856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D4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126480" y="2148840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不均整・経年・素材の質感など“自然の不完全さ”に美を見出す感性。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0" y="2807208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462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🍵 たとえ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26480" y="3172968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苔むした石、ふぞろいの飛び石。完璧でないからこその味わい。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43600" y="3831336"/>
            <a:ext cx="5715000" cy="914400"/>
          </a:xfrm>
          <a:prstGeom prst="roundRect">
            <a:avLst>
              <a:gd name="adj" fmla="val 9000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3904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0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庭での例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126480" y="4197096"/>
            <a:ext cx="53949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直線一辺倒を避け、自然な曲線・斜めの流れで“動”と素材感を出す。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0" y="4855464"/>
            <a:ext cx="5715000" cy="566928"/>
          </a:xfrm>
          <a:prstGeom prst="roundRect">
            <a:avLst>
              <a:gd name="adj" fmla="val 14516"/>
            </a:avLst>
          </a:prstGeom>
          <a:solidFill>
            <a:srgbClr val="5F7D4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4873752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一言：  不揃いを、味わう。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43600" y="558698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60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響く論文（アナロジー）：Moshagen &amp; Thielsch (2010) doi:10.1016/j.ijhcs.2010.05.006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ツールの使い方（4タブ × 3モード）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1207008"/>
          </a:xfrm>
          <a:prstGeom prst="roundRect">
            <a:avLst>
              <a:gd name="adj" fmla="val 7576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813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💬 相談（庭師AI）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庭の知恵⇄構図⇄デザイン論を四段で。4ペルソナ・音声対応。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440680" cy="1207008"/>
          </a:xfrm>
          <a:prstGeom prst="roundRect">
            <a:avLst>
              <a:gd name="adj" fmla="val 7576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4813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🌿 デザイン論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1920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査読15本をDOI付きで参照。クリックで相談に接続。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440680" cy="1207008"/>
          </a:xfrm>
          <a:prstGeom prst="roundRect">
            <a:avLst>
              <a:gd name="adj" fmla="val 7576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852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📐 構図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291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9型を縦横比を変えてオーバーレイ表示。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0"/>
            <a:ext cx="5440680" cy="1207008"/>
          </a:xfrm>
          <a:prstGeom prst="roundRect">
            <a:avLst>
              <a:gd name="adj" fmla="val 7576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852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🪨 庭園の知恵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32918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7原則を構図と論文への橋渡しで。色トーンも。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11109960" cy="1554480"/>
          </a:xfrm>
          <a:prstGeom prst="roundRect">
            <a:avLst>
              <a:gd name="adj" fmla="val 5882"/>
            </a:avLst>
          </a:prstGeom>
          <a:solidFill>
            <a:srgbClr val="ECE4D2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3708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🧭 回答モード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7548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607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📚 参照先モード（即答＋DOI出典）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5462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🧠 考えさせる問モード（テスト効果で問いを投げる）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🪴 じっくり相談モード（定義→たとえ→詳細→一言の四段）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エンジニア向けの調整 ＆ 統合版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813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🪴 パラメータ盆栽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温度／最大トークン／詳しさ／専門度／たとえの量／出典の厳しさ／話速 を調整。設定文字列をライブ表示。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6F1E6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4813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💾 プリセット（設計書レビュー）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9202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“効いた設定”に名前をつけて保存→⭐で目印→いつでも戻す。JSONで書き出し/読み込みも。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11109960" cy="1828800"/>
          </a:xfrm>
          <a:prstGeom prst="roundRect">
            <a:avLst>
              <a:gd name="adj" fmla="val 5000"/>
            </a:avLst>
          </a:prstGeom>
          <a:solidFill>
            <a:srgbClr val="ECE4D2"/>
          </a:solidFill>
          <a:ln w="12700">
            <a:solidFill>
              <a:srgbClr val="E0D7C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40965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5A3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🔑 統合版：鍵の有無で自動切替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5262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APIキーが空 → アーティファクト版（claude.ai内・鍵不要、Sonnet 4.6・最大1000トークン）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0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APIキーを入力 → HTML版（オフライン可・自分の鍵、モデル選択・最大トークン調整が有効）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5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3657600" cy="3657600"/>
          </a:xfrm>
          <a:prstGeom prst="ellipse">
            <a:avLst/>
          </a:prstGeom>
          <a:solidFill>
            <a:srgbClr val="5F7D4F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FE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この工房の約束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54480"/>
            <a:ext cx="10698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BEF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嘘つかない原則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CE4D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・査読デザイン論の出典は、実在が確認できたDOI（15本）だけを引用します。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CE4D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・日本庭園の設計思想や写真の構図は“文化的・実務的な慣習/定石（例外あり）”であり、査読論文の主張ではありません。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CE4D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・両者をつなぐ時は「論文が庭園を実証した」とは言わず、響き合うアナロジーとして区別します。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CE4D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・実在の作庭家・写真家の発言や経歴を、確証なく断定で作り話ししません。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B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🐰🪴 うさうさ研修工房 庭園デザインラボ ／ 面白きこともなき世を面白く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うさうさ庭園デザインラボ 研修資料</dc:title>
  <dc:subject>PptxGenJS Presentation</dc:subject>
  <dc:creator>うさうさ研修工房</dc:creator>
  <cp:lastModifiedBy>うさうさ研修工房</cp:lastModifiedBy>
  <cp:revision>1</cp:revision>
  <dcterms:created xsi:type="dcterms:W3CDTF">2026-06-23T14:06:52Z</dcterms:created>
  <dcterms:modified xsi:type="dcterms:W3CDTF">2026-06-23T14:06:52Z</dcterms:modified>
</cp:coreProperties>
</file>