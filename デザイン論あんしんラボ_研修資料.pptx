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導入。査読論文を“難しいまま”で終わらせず、定義→たとえ→詳細→一言まとめでやさしく届けるのが本ラボの狙い。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WHYを最初に。形式（チャット＋音声）が査読知見そのものという“メタに筋が通る”点を強調。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地図を見せてから各論へ。テーマ名と一言だけ覚えてもらう。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ツールのペルソナ・チップとこの表が対応している、と説明すると腹落ちが早い。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締め前の実務スライド。チェックリストとして配布資料にも転用可。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配布資料・記事末尾にそのまま貼れる参考文献リスト。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一言まとめで締める。ツールへの導線（HTMLを開く）を案内。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F2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023360" cy="4023360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474720" cy="3474720"/>
          </a:xfrm>
          <a:prstGeom prst="ellipse">
            <a:avLst/>
          </a:prstGeom>
          <a:solidFill>
            <a:srgbClr val="A2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🐰🎨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デザイン論あんしんラボ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49808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D9E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査読論文で、やさしく・声で・対話で学ぶ最新デザイン論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D9E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面白きこともなき世を面白く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AEB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 ／ 出典は実在DOIのみ・嘘つかない原則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WHY ― なぜ査読論文ベースで学ぶのか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感覚論ではなく、再現性のある知見の上に教え方を立てる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42062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420624" cy="420624"/>
          </a:xfrm>
          <a:prstGeom prst="ellipse">
            <a:avLst/>
          </a:prstGeom>
          <a:solidFill>
            <a:srgbClr val="B8466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根拠が崩れない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「美しい＝良い」の感覚論ではなく、実証された傾向と境界条件で語れる。引用前提の発信にも強い。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29000" cy="42062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057400"/>
            <a:ext cx="420624" cy="420624"/>
          </a:xfrm>
          <a:prstGeom prst="ellipse">
            <a:avLst/>
          </a:prstGeom>
          <a:solidFill>
            <a:srgbClr val="4A6D8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2057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教え方そのものが正解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Mayerの人格化原則＝会話調の方が学べる。チャット＋音声という形式自体が査読知見に裏打ちされる。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29000" cy="42062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057400"/>
            <a:ext cx="420624" cy="420624"/>
          </a:xfrm>
          <a:prstGeom prst="ellipse">
            <a:avLst/>
          </a:prstGeom>
          <a:solidFill>
            <a:srgbClr val="5B8F6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67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15400" y="2057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現場と地続き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92608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設計書レビュー・研修・コードの可読性まで、理論を“明日使える具体策”に翻訳できる。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全体マップ ― 5テーマ × 検証済み12論文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WHY→WHAT→HOW で巡る、デザイン論のあんしん地図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103120" cy="3566160"/>
          </a:xfrm>
          <a:prstGeom prst="roundRect">
            <a:avLst>
              <a:gd name="adj" fmla="val 3913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286000"/>
            <a:ext cx="548640" cy="548640"/>
          </a:xfrm>
          <a:prstGeom prst="ellipse">
            <a:avLst/>
          </a:prstGeom>
          <a:solidFill>
            <a:srgbClr val="B8466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173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301752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認知負荷理論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379476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作業記憶は小さい。余計な負荷を減らす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2011680"/>
            <a:ext cx="2103120" cy="3566160"/>
          </a:xfrm>
          <a:prstGeom prst="roundRect">
            <a:avLst>
              <a:gd name="adj" fmla="val 3913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286000"/>
            <a:ext cx="548640" cy="548640"/>
          </a:xfrm>
          <a:prstGeom prst="ellipse">
            <a:avLst/>
          </a:prstGeom>
          <a:solidFill>
            <a:srgbClr val="4A6D8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35808" y="301752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マルチメディア学習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72384" y="379476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言葉＋絵。盛りすぎは逆効果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2011680"/>
            <a:ext cx="2103120" cy="3566160"/>
          </a:xfrm>
          <a:prstGeom prst="roundRect">
            <a:avLst>
              <a:gd name="adj" fmla="val 3913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2286000"/>
            <a:ext cx="548640" cy="548640"/>
          </a:xfrm>
          <a:prstGeom prst="ellipse">
            <a:avLst/>
          </a:prstGeom>
          <a:solidFill>
            <a:srgbClr val="C79A3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21808" y="301752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UX × 美しさ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58384" y="379476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見た目が“使いやすさの感じ方”を動かす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011680"/>
            <a:ext cx="2103120" cy="3566160"/>
          </a:xfrm>
          <a:prstGeom prst="roundRect">
            <a:avLst>
              <a:gd name="adj" fmla="val 3913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2286000"/>
            <a:ext cx="548640" cy="548640"/>
          </a:xfrm>
          <a:prstGeom prst="ellipse">
            <a:avLst/>
          </a:prstGeom>
          <a:solidFill>
            <a:srgbClr val="5B8F6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753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07808" y="301752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アクセシビリティ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44384" y="379476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読みやすさは配慮でなく設計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84080" y="2011680"/>
            <a:ext cx="2103120" cy="3566160"/>
          </a:xfrm>
          <a:prstGeom prst="roundRect">
            <a:avLst>
              <a:gd name="adj" fmla="val 3913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61320" y="2286000"/>
            <a:ext cx="548640" cy="548640"/>
          </a:xfrm>
          <a:prstGeom prst="ellipse">
            <a:avLst/>
          </a:prstGeom>
          <a:solidFill>
            <a:srgbClr val="7AA05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5613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93808" y="301752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デザイン思考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30384" y="379476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人間中心で問題を解く型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各論文はツール右ペインの「論文ライブラリ」からDOIで原典に飛べます。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WHAT① 認知負荷理論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 → たとえ → 詳細 → 一言まとめ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0136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B8466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013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31343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学ぶ時に脳の作業台（ワーキングメモリ）にかかる負荷の理論。負荷は『素材の難しさ＝内在』『見せ方の無駄＝外在』『理解づくり＝適切』の3種に分かれる。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511296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C79A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112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🍜 たとえ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ラーメン店の厨房の作業台。台が狭いのに具材を全部広げると詰まる。レシピ（外在負荷＝余計な散らかり）を整え、必要な材料だけ置くと、調理（学習）が進む。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5193792" cy="3282696"/>
          </a:xfrm>
          <a:prstGeom prst="roundRect">
            <a:avLst>
              <a:gd name="adj" fmla="val 2507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80136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4A6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8013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・外在負荷を減らす（分割提示・余計な装飾を削る）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・内在負荷を順序とスキャフォールディングで管理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・適切な負荷へ振り向けると理解が深まる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・負荷は固定でなく、学習者の前提知識で変わる（熟達者には冗長が逆効果）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8F2F5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07492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D9E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「足りない説明」より「散らかった画面」が学習を止める。まず無駄を引く。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参考: Sweller et al. (2019) doi:10.1007/s10648-019-09465-5 ／ Paas &amp; van Merriënboer (2020) doi:10.1177/0963721420922183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WHAT② マルチメディア学習（CTML）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 → たとえ → 詳細 → 一言まとめ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0136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B8466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013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31343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言葉と絵を組み合わせると、言葉だけより深く学べるという理論（Mayer）。人は視覚と聴覚の2経路で処理し、各経路の容量には限りがある。15の実証原則がある。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511296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C79A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112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🍜 たとえ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ラーメンの説明を、口頭（音声）＋写真（視覚）で渡す。メニュー表に同じ説明文を全部重ねて書くと、目と耳がケンカして逆に分かりにくい（冗長性）。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5193792" cy="3282696"/>
          </a:xfrm>
          <a:prstGeom prst="roundRect">
            <a:avLst>
              <a:gd name="adj" fmla="val 2507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80136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4A6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8013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・多メディア原則：言葉＋絵 ＞ 言葉だけ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・一貫性原則：足し算は引き算。盛るほど理解が減る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・冗長性原則：ナレーションと同じ全文字幕は逆効果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・人格化原則：硬い説明より会話調の方が学べる（=本ツールの設計根拠）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8F2F5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07492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D9E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“盛る”より“選ぶ”。音声と視覚は役割分担させる。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参考: Mayer (2024) doi:10.1007/s10648-023-09842-1 ／ Mayer, Heiser &amp; Lonn (2001) doi:10.1037/0022-0663.93.1.187 ／ Mayer &amp; Johnson (2008) doi:10.1037/0022-0663.100.2.380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WHAT③ UX × 美しさ（美的ユーザビリティ効果）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 → たとえ → 詳細 → 一言まとめ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0136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B8466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013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31343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見た目が美しいUIは『使いやすい』と感じられやすい、という効果。ただし“感じる使いやすさ”と“実測の使いやすさ”は別物で、美しさが問題を覆い隠すこともある。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511296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C79A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112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🍜 たとえ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盛り付けの綺麗なラーメンは『美味しそう＝食べやすそう』に見える。でも実際の食べやすさ（麺の伸び・熱さ）は別。見た目で評価が甘くなる点に注意。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5193792" cy="3282696"/>
          </a:xfrm>
          <a:prstGeom prst="roundRect">
            <a:avLst>
              <a:gd name="adj" fmla="val 2507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80136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4A6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8013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・美的魅力は“知覚されたユーザビリティ”を上げる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・一方でユーザビリティテストでは問題を隠す副作用も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・視覚的な美は4側面に分解できる（簡潔さ・多様性・色彩・職人技）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・“美しいから使いやすい”と“使えるから美しい”は双方向に起きる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8F2F5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07492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D9E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美しさは武器。ただしテストでは“盛れた評価”を割り引いて見る。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参考: Sonderegger &amp; Sauer (2010) doi:10.1016/j.apergo.2009.09.002 ／ Moshagen &amp; Thielsch (2010) doi:10.1016/j.ijhcs.2010.05.006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WHAT④ アクセシビリティ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 → たとえ → 詳細 → 一言まとめ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0136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B8466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013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31343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障害の有無にかかわらず情報に届くようにする設計。読みやすい配色・行間・フォントは“特別な配慮”ではなく、全員に効く基本設計である。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511296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C79A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112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🍜 たとえ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店の入口のスロープや大きな品書き。車椅子の人のためだけでなく、ベビーカーや高齢のお客さんにも効く。誰か一人のための設計が、みんなを楽にする。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5193792" cy="3282696"/>
          </a:xfrm>
          <a:prstGeom prst="roundRect">
            <a:avLst>
              <a:gd name="adj" fmla="val 2507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80136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4A6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8013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・ディスレクシア研究から：適切な書体・余白・行間が読解を助ける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・色だけに意味を持たせない（色覚多様性への配慮）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・十分なコントラストは認知負荷の低減そのもの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・“例外への配慮”が結果的に標準品質を底上げする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8F2F5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07492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D9E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アクセシビリティは引き算の設計。整えるほど、全員が速く読める。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参考: McCarthy &amp; Swierenga (2010) doi:10.1007/s10209-009-0160-5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WHAT⑤ デザイン思考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 → たとえ → 詳細 → 一言まとめ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0136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B8466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013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31343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ユーザーを観察し、問題そのものを定義し直しながら解を作る人間中心の型。レビューでは10の属性・8の手法に整理されている。教育設計にも応用できる。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511296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C79A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112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🍜 たとえ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新メニュー開発。いきなり作らず、まず常連の食べ方を観察→『本当に欲しいのは“早さ”では？』と問いを立て直す→試作→試食→改良。回しながら正解に近づく。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5193792" cy="3282696"/>
          </a:xfrm>
          <a:prstGeom prst="roundRect">
            <a:avLst>
              <a:gd name="adj" fmla="val 2507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80136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4A6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8013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・観察→問題定義→発想→試作→検証を反復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・“正しい問いに作り直す”ことを重視（問題探索）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・教育設計（研修づくり）に橋渡しできる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・現場導入では“あいまいさ耐性・経営の理解”でつまずきやすい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8F2F5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07492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D9E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作る前に問いを疑う。小さく試して、回しながら直す。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参考: Micheli et al. (2019) doi:10.1111/jpim.12466 ／ Baker &amp; Moukhliss (2020) doi:10.1002/rev3.3186 ／ Carlgren et al. (2016) doi:10.1111/caim.12176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誰向け × ペルソナ運用表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同じ理論を、誰に・誰として伝えるかで作り分ける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76272"/>
                <a:gridCol w="2176272"/>
                <a:gridCol w="2176272"/>
                <a:gridCol w="2185416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誰向け＼ペルソナ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🐰 うさうさ先生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46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🔍 査読者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D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🛠 現場リーダー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F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🌱 新人代弁者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A05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新人・受講生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たとえ全開で噛み砕く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根拠を一つだけ添える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明日使う一手に絞る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つまずき所を先回り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サブ講師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板書例・FAQまで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主張の飛躍を点検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研修での落とし込み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新人質問を予習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発信・自己研鑽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note向けの語り口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引用の精度を担保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PoC事例に接続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2A31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読者の“わからない”を想像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使い方：縦で“誰向け”を選び、横で“どのペルソナに相談するか”を切り替える。ツールのチップと一対一で対応。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HOW ― 明日からのチェックリスト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理論を“手”に変える5つの問い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9384"/>
            <a:ext cx="457200" cy="457200"/>
          </a:xfrm>
          <a:prstGeom prst="ellipse">
            <a:avLst/>
          </a:prstGeom>
          <a:solidFill>
            <a:srgbClr val="B8466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画面、引けるムダはない？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0" y="178308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認知負荷：外在負荷を削ったか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1090879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816352"/>
            <a:ext cx="457200" cy="457200"/>
          </a:xfrm>
          <a:prstGeom prst="ellipse">
            <a:avLst/>
          </a:prstGeom>
          <a:solidFill>
            <a:srgbClr val="B8466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670048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音声と文字、役割分担した？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267004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CTML：冗長な全文字幕になっていないか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57016"/>
            <a:ext cx="1090879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703320"/>
            <a:ext cx="457200" cy="457200"/>
          </a:xfrm>
          <a:prstGeom prst="ellipse">
            <a:avLst/>
          </a:prstGeom>
          <a:solidFill>
            <a:srgbClr val="B8466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557016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会話調で書いた？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355701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人格化原則：硬い説明を会話調に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43984"/>
            <a:ext cx="1090879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590288"/>
            <a:ext cx="457200" cy="457200"/>
          </a:xfrm>
          <a:prstGeom prst="ellipse">
            <a:avLst/>
          </a:prstGeom>
          <a:solidFill>
            <a:srgbClr val="B8466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443984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色だけで意味を伝えてない？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0" y="444398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A11y：コントラストと代替表現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330952"/>
            <a:ext cx="1090879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477256"/>
            <a:ext cx="457200" cy="457200"/>
          </a:xfrm>
          <a:prstGeom prst="ellipse">
            <a:avLst/>
          </a:prstGeom>
          <a:solidFill>
            <a:srgbClr val="B8466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5330952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先に“問い”を疑った？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0" y="533095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デザイン思考：問題定義をやり直したか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出典一覧（検証済みDOI・12本）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嘘つかない原則：未確認のDOIは載せない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Sweller, van Merriënboer &amp; Paas (2019). Educational Psychology Review. doi:10.1007/s10648-019-09465-5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459736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5973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Sweller (1994). Learning and Instruction. doi:10.1016/0959-4752(94)90003-5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13639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Paas &amp; van Merriënboer (2020). Current Directions in Psychological Science. doi:10.1177/0963721420922183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813048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8130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Mayer (2024). Educational Psychology Review. doi:10.1007/s10648-023-09842-1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489704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48970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Mayer, Heiser &amp; Lonn (2001). Journal of Educational Psychology. doi:10.1037/0022-0663.93.1.187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16636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Mayer &amp; Johnson (2008). Journal of Educational Psychology. doi:10.1037/0022-0663.100.2.380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783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Sonderegger &amp; Sauer (2010). Applied Ergonomics. doi:10.1016/j.apergo.2009.09.002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459736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245973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Moshagen &amp; Thielsch (2010). Int. J. Human-Computer Studies. doi:10.1016/j.ijhcs.2010.05.006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136392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13639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McCarthy &amp; Swierenga (2010). Universal Access in the Information Society. doi:10.1007/s10209-009-0160-5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813048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38130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Micheli et al. (2019). Journal of Product Innovation Management. doi:10.1111/jpim.12466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489704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448970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Baker &amp; Moukhliss (2020). Review of Education. doi:10.1002/rev3.3186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516636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516636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Carlgren, Rauth &amp; Elmquist (2016). Creativity and Innovation Management. doi:10.1111/caim.12176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F2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97680"/>
            <a:ext cx="4023360" cy="4023360"/>
          </a:xfrm>
          <a:prstGeom prst="ellipse">
            <a:avLst/>
          </a:prstGeom>
          <a:solidFill>
            <a:srgbClr val="A23A5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🐰🎨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難しいものを、やさしく。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95528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D9E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査読論文を“声”と“対話”に変えて、新人にも・講師にも・読者にも届ける。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AEB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 ／ デザイン論あんしんラボ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デザイン論あんしんラボ</dc:title>
  <dc:subject>PptxGenJS Presentation</dc:subject>
  <dc:creator>うさうさ研修工房</dc:creator>
  <cp:lastModifiedBy>うさうさ研修工房</cp:lastModifiedBy>
  <cp:revision>1</cp:revision>
  <dcterms:created xsi:type="dcterms:W3CDTF">2026-06-23T10:40:10Z</dcterms:created>
  <dcterms:modified xsi:type="dcterms:W3CDTF">2026-06-23T10:40:10Z</dcterms:modified>
</cp:coreProperties>
</file>